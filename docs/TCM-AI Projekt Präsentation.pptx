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9144000"/>
  <p:embeddedFontLst>
    <p:embeddedFont>
      <p:font typeface="Urbanist"/>
      <p:regular r:id="rId19"/>
      <p:bold r:id="rId20"/>
      <p:italic r:id="rId21"/>
      <p:boldItalic r:id="rId22"/>
    </p:embeddedFont>
    <p:embeddedFont>
      <p:font typeface="JetBrains Mono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Urbanist-bold.fntdata"/><Relationship Id="rId22" Type="http://schemas.openxmlformats.org/officeDocument/2006/relationships/font" Target="fonts/Urbanist-boldItalic.fntdata"/><Relationship Id="rId21" Type="http://schemas.openxmlformats.org/officeDocument/2006/relationships/font" Target="fonts/Urbanist-italic.fntdata"/><Relationship Id="rId24" Type="http://schemas.openxmlformats.org/officeDocument/2006/relationships/font" Target="fonts/JetBrainsMono-bold.fntdata"/><Relationship Id="rId23" Type="http://schemas.openxmlformats.org/officeDocument/2006/relationships/font" Target="fonts/JetBrainsMon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JetBrainsMono-boldItalic.fntdata"/><Relationship Id="rId25" Type="http://schemas.openxmlformats.org/officeDocument/2006/relationships/font" Target="fonts/JetBrainsMon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Urbanist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Cedi</a:t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Cedi</a:t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Cedi</a:t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Cedric</a:t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34" name="Google Shape;13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48" name="Google Shape;14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ce440cd2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78" name="Google Shape;178;g3cce440cd22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Mika</a:t>
            </a:r>
            <a:endParaRPr/>
          </a:p>
        </p:txBody>
      </p:sp>
      <p:sp>
        <p:nvSpPr>
          <p:cNvPr id="211" name="Google Shape;21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ce440cd22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Mika</a:t>
            </a:r>
            <a:endParaRPr/>
          </a:p>
        </p:txBody>
      </p:sp>
      <p:sp>
        <p:nvSpPr>
          <p:cNvPr id="228" name="Google Shape;228;g3cce440cd22_0_4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Mika</a:t>
            </a:r>
            <a:endParaRPr/>
          </a:p>
        </p:txBody>
      </p:sp>
      <p:sp>
        <p:nvSpPr>
          <p:cNvPr id="239" name="Google Shape;23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Mika</a:t>
            </a:r>
            <a:endParaRPr/>
          </a:p>
        </p:txBody>
      </p:sp>
      <p:sp>
        <p:nvSpPr>
          <p:cNvPr id="258" name="Google Shape;25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11" Type="http://schemas.openxmlformats.org/officeDocument/2006/relationships/image" Target="../media/image25.png"/><Relationship Id="rId10" Type="http://schemas.openxmlformats.org/officeDocument/2006/relationships/image" Target="../media/image15.png"/><Relationship Id="rId12" Type="http://schemas.openxmlformats.org/officeDocument/2006/relationships/image" Target="../media/image11.png"/><Relationship Id="rId9" Type="http://schemas.openxmlformats.org/officeDocument/2006/relationships/image" Target="../media/image9.png"/><Relationship Id="rId5" Type="http://schemas.openxmlformats.org/officeDocument/2006/relationships/image" Target="../media/image18.png"/><Relationship Id="rId6" Type="http://schemas.openxmlformats.org/officeDocument/2006/relationships/image" Target="../media/image27.png"/><Relationship Id="rId7" Type="http://schemas.openxmlformats.org/officeDocument/2006/relationships/image" Target="../media/image20.png"/><Relationship Id="rId8" Type="http://schemas.openxmlformats.org/officeDocument/2006/relationships/image" Target="../media/image2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9" Type="http://schemas.openxmlformats.org/officeDocument/2006/relationships/image" Target="../media/image19.png"/><Relationship Id="rId5" Type="http://schemas.openxmlformats.org/officeDocument/2006/relationships/image" Target="../media/image24.png"/><Relationship Id="rId6" Type="http://schemas.openxmlformats.org/officeDocument/2006/relationships/image" Target="../media/image26.png"/><Relationship Id="rId7" Type="http://schemas.openxmlformats.org/officeDocument/2006/relationships/image" Target="../media/image23.png"/><Relationship Id="rId8" Type="http://schemas.openxmlformats.org/officeDocument/2006/relationships/image" Target="../media/image1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1824037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TCM-AI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5275" y="2928937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Ziffernerkennung selbst gebaut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890962"/>
            <a:ext cx="110490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DAFFD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Tim | Cédric | Mika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72312" y="1990725"/>
            <a:ext cx="3810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415629"/>
            <a:ext cx="555069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Chaos der Handschrift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2987129"/>
            <a:ext cx="5286375" cy="58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Menschen erkennen eine "3" sofort, egal ob schief, dick oder dünn geschrieben.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783359"/>
            <a:ext cx="5286375" cy="58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Ein Computer sieht nur ein Gitter aus 784 Grauwerten (28x28 Pixel).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4579590"/>
            <a:ext cx="5286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98" name="Google Shape;98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91362" y="2009775"/>
            <a:ext cx="3771900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Das Problem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5" name="Google Shape;10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9907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571500" y="2695575"/>
            <a:ext cx="555069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Neuronale Architektur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571500" y="4299495"/>
            <a:ext cx="5286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14400" y="3208972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52500" y="320992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Input: 784 Pixel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914400" y="3502312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952500" y="350326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Hidden: 128 Neuronen (ReLu)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914400" y="3795652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952500" y="379660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Output: 10 Ziffern (Softmax)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Lösung</a:t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6334125" y="5800725"/>
            <a:ext cx="573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Bild: gemini.google.com</a:t>
            </a:r>
            <a:endParaRPr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0879" y="2739862"/>
            <a:ext cx="5092872" cy="2406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52600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6334125" y="2067238"/>
            <a:ext cx="52863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Wir haben eine app.py gebaut, in der man direkt zeichnen kann.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334125" y="2863467"/>
            <a:ext cx="52863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Das Netz verarbeitet den Canvas-Input und liefert Wahrscheinlichkeiten für 0 bis 9.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Theorie vs. Praxis</a:t>
            </a:r>
            <a:endParaRPr/>
          </a:p>
        </p:txBody>
      </p:sp>
      <p:sp>
        <p:nvSpPr>
          <p:cNvPr id="128" name="Google Shape;128;p16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6334113" y="3659698"/>
            <a:ext cx="52863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Die Theoretischen Werte waren manchmal irreführend. trotz insgesammt weniger als 9% theorethischer verbesserung sind die Neusten Modelle Welten besser in der Praxis</a:t>
            </a:r>
            <a:endParaRPr/>
          </a:p>
        </p:txBody>
      </p:sp>
      <p:pic>
        <p:nvPicPr>
          <p:cNvPr id="130" name="Google Shape;13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8650" y="2200875"/>
            <a:ext cx="5150875" cy="348387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628650" y="6038850"/>
            <a:ext cx="573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Bild: TCM-APP UI</a:t>
            </a:r>
            <a:endParaRPr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6" name="Google Shape;13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 txBox="1"/>
          <p:nvPr/>
        </p:nvSpPr>
        <p:spPr>
          <a:xfrm>
            <a:off x="571500" y="2615505"/>
            <a:ext cx="528637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91%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44305"/>
            <a:ext cx="5286375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Accuracy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6334125" y="2562225"/>
            <a:ext cx="555069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Erste Gehversuche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6334125" y="3133725"/>
            <a:ext cx="52863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10k Trainingsdaten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6334125" y="3929955"/>
            <a:ext cx="528637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Standard SGD (Stochastic Gradient Descent).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6334125" y="5229070"/>
            <a:ext cx="52863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Fazit: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Solide, aber bei komplexen Handschriften noch überfordert.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o1: Der Anfang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6334163" y="4599143"/>
            <a:ext cx="52863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Einstellungen mehr guess als optimal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0" name="Google Shape;1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859309"/>
            <a:ext cx="5381625" cy="31889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1859309"/>
            <a:ext cx="5381625" cy="318894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71500" y="5429250"/>
            <a:ext cx="11049000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Die wichtigste Lektion: </a:t>
            </a: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Datenqualität und -quantität schlagen oft Modell-Komplexität.</a:t>
            </a:r>
            <a:endParaRPr/>
          </a:p>
        </p:txBody>
      </p:sp>
      <p:sp>
        <p:nvSpPr>
          <p:cNvPr id="154" name="Google Shape;154;p18"/>
          <p:cNvSpPr txBox="1"/>
          <p:nvPr/>
        </p:nvSpPr>
        <p:spPr>
          <a:xfrm>
            <a:off x="736996" y="2183159"/>
            <a:ext cx="505063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Reduced MNIST</a:t>
            </a:r>
            <a:endParaRPr/>
          </a:p>
        </p:txBody>
      </p:sp>
      <p:sp>
        <p:nvSpPr>
          <p:cNvPr id="155" name="Google Shape;155;p18"/>
          <p:cNvSpPr txBox="1"/>
          <p:nvPr/>
        </p:nvSpPr>
        <p:spPr>
          <a:xfrm>
            <a:off x="857250" y="2754659"/>
            <a:ext cx="481012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10.000 Bilder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857250" y="3619500"/>
            <a:ext cx="481012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91%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6404371" y="2183159"/>
            <a:ext cx="505063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Full MNIST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6524625" y="2754659"/>
            <a:ext cx="481012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60.000 Bilder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6524625" y="3619500"/>
            <a:ext cx="481012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96%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o3: Daten-Boost</a:t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6" name="Google Shape;16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9"/>
          <p:cNvSpPr txBox="1"/>
          <p:nvPr/>
        </p:nvSpPr>
        <p:spPr>
          <a:xfrm>
            <a:off x="571500" y="2562225"/>
            <a:ext cx="555069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Training mit Strategie</a:t>
            </a:r>
            <a:endParaRPr/>
          </a:p>
        </p:txBody>
      </p:sp>
      <p:sp>
        <p:nvSpPr>
          <p:cNvPr id="168" name="Google Shape;168;p19"/>
          <p:cNvSpPr txBox="1"/>
          <p:nvPr/>
        </p:nvSpPr>
        <p:spPr>
          <a:xfrm>
            <a:off x="571500" y="3133725"/>
            <a:ext cx="5286375" cy="58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Statt stumpfem Gradientenabstieg: </a:t>
            </a: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Adam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(Adaptive Moment Estimation).</a:t>
            </a:r>
            <a:endParaRPr/>
          </a:p>
        </p:txBody>
      </p:sp>
      <p:sp>
        <p:nvSpPr>
          <p:cNvPr id="169" name="Google Shape;169;p19"/>
          <p:cNvSpPr txBox="1"/>
          <p:nvPr/>
        </p:nvSpPr>
        <p:spPr>
          <a:xfrm>
            <a:off x="571500" y="4726185"/>
            <a:ext cx="528637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Ergebnis: Sprung auf </a:t>
            </a: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98,2%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Accuracy.</a:t>
            </a:r>
            <a:endParaRPr/>
          </a:p>
        </p:txBody>
      </p:sp>
      <p:sp>
        <p:nvSpPr>
          <p:cNvPr id="170" name="Google Shape;170;p19"/>
          <p:cNvSpPr txBox="1"/>
          <p:nvPr/>
        </p:nvSpPr>
        <p:spPr>
          <a:xfrm>
            <a:off x="914400" y="3929002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71" name="Google Shape;171;p19"/>
          <p:cNvSpPr txBox="1"/>
          <p:nvPr/>
        </p:nvSpPr>
        <p:spPr>
          <a:xfrm>
            <a:off x="952500" y="392995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Individuelle Lernrate pro Neuron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914400" y="4222343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952500" y="422329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Momentum ("Gedächtnis") für schnellere Konvergenz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o4.1: Adam-Optimizer</a:t>
            </a:r>
            <a:endParaRPr/>
          </a:p>
        </p:txBody>
      </p:sp>
      <p:sp>
        <p:nvSpPr>
          <p:cNvPr id="175" name="Google Shape;175;p19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0" name="Google Shape;18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9907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0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</a:t>
            </a: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5:</a:t>
            </a:r>
            <a:endParaRPr/>
          </a:p>
        </p:txBody>
      </p:sp>
      <p:sp>
        <p:nvSpPr>
          <p:cNvPr id="183" name="Google Shape;183;p20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 txBox="1"/>
          <p:nvPr/>
        </p:nvSpPr>
        <p:spPr>
          <a:xfrm>
            <a:off x="571500" y="2427982"/>
            <a:ext cx="5200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Das Mega-Dataset</a:t>
            </a:r>
            <a:endParaRPr/>
          </a:p>
        </p:txBody>
      </p:sp>
      <p:sp>
        <p:nvSpPr>
          <p:cNvPr id="185" name="Google Shape;185;p20"/>
          <p:cNvSpPr txBox="1"/>
          <p:nvPr/>
        </p:nvSpPr>
        <p:spPr>
          <a:xfrm>
            <a:off x="571500" y="314235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Wir haben MNIST mit EMNIST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Daten 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kombiniert.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571500" y="385479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Insgesammt 300k Trainingsdaten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571500" y="486057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Das Ziel: Generalisierung statt Auswendiglernen.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6374663" y="3304600"/>
            <a:ext cx="52053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>
                <a:solidFill>
                  <a:srgbClr val="CCCCCC"/>
                </a:solidFill>
                <a:latin typeface="Impact"/>
                <a:ea typeface="Impact"/>
                <a:cs typeface="Impact"/>
                <a:sym typeface="Impact"/>
              </a:rPr>
              <a:t>30X - Trainingsdaten</a:t>
            </a:r>
            <a:endParaRPr sz="4600">
              <a:solidFill>
                <a:srgbClr val="CCCCCC"/>
              </a:solidFill>
              <a:latin typeface="Impact"/>
              <a:ea typeface="Impact"/>
              <a:cs typeface="Impact"/>
              <a:sym typeface="Impac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Im Vergleich zum Anfang</a:t>
            </a:r>
            <a:endParaRPr sz="3000">
              <a:solidFill>
                <a:srgbClr val="CCCCC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3" name="Google Shape;19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943992"/>
            <a:ext cx="3492549" cy="3209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1943992"/>
            <a:ext cx="3492549" cy="3209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1943992"/>
            <a:ext cx="3492549" cy="3209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14375" y="2124967"/>
            <a:ext cx="3206799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8" name="Google Shape;198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92674" y="2124967"/>
            <a:ext cx="3206799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270974" y="2124967"/>
            <a:ext cx="3206799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1"/>
          <p:cNvSpPr txBox="1"/>
          <p:nvPr/>
        </p:nvSpPr>
        <p:spPr>
          <a:xfrm>
            <a:off x="571500" y="5344417"/>
            <a:ext cx="11049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Künstliche Vervielfältigung der Daten für </a:t>
            </a: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99,</a:t>
            </a:r>
            <a:r>
              <a:rPr b="1"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38</a:t>
            </a: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% Accuracy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634205" y="4506217"/>
            <a:ext cx="336713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Rotation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4412504" y="4506217"/>
            <a:ext cx="336713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Skalierung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8190804" y="4506217"/>
            <a:ext cx="336713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Rauschen</a:t>
            </a:r>
            <a:endParaRPr/>
          </a:p>
        </p:txBody>
      </p:sp>
      <p:pic>
        <p:nvPicPr>
          <p:cNvPr descr="image.png" id="204" name="Google Shape;204;p2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33425" y="2144017"/>
            <a:ext cx="3168699" cy="23431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2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511724" y="2144017"/>
            <a:ext cx="3168699" cy="23431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2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290024" y="2144017"/>
            <a:ext cx="3168699" cy="2343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1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o5.</a:t>
            </a: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1</a:t>
            </a: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: Augmentation</a:t>
            </a:r>
            <a:endParaRPr/>
          </a:p>
        </p:txBody>
      </p:sp>
      <p:sp>
        <p:nvSpPr>
          <p:cNvPr id="208" name="Google Shape;208;p21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3" name="Google Shape;21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2"/>
          <p:cNvSpPr txBox="1"/>
          <p:nvPr/>
        </p:nvSpPr>
        <p:spPr>
          <a:xfrm>
            <a:off x="571500" y="6111317"/>
            <a:ext cx="11049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Überraschend: 37-fache Grö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ss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 bringt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kein 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Mehrwert. </a:t>
            </a:r>
            <a:r>
              <a:rPr b="1"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o3-pro (10M Parameter) cs o5.2-mini (0.3M Parameter)</a:t>
            </a:r>
            <a:endParaRPr/>
          </a:p>
        </p:txBody>
      </p:sp>
      <p:sp>
        <p:nvSpPr>
          <p:cNvPr id="215" name="Google Shape;215;p22"/>
          <p:cNvSpPr/>
          <p:nvPr/>
        </p:nvSpPr>
        <p:spPr>
          <a:xfrm>
            <a:off x="571500" y="3863280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2"/>
          <p:cNvSpPr/>
          <p:nvPr/>
        </p:nvSpPr>
        <p:spPr>
          <a:xfrm>
            <a:off x="3219450" y="3863280"/>
            <a:ext cx="29146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6134100" y="3863280"/>
            <a:ext cx="28003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2"/>
          <p:cNvSpPr/>
          <p:nvPr/>
        </p:nvSpPr>
        <p:spPr>
          <a:xfrm>
            <a:off x="8934450" y="3863280"/>
            <a:ext cx="26860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2"/>
          <p:cNvSpPr/>
          <p:nvPr/>
        </p:nvSpPr>
        <p:spPr>
          <a:xfrm>
            <a:off x="571500" y="4539555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2"/>
          <p:cNvSpPr/>
          <p:nvPr/>
        </p:nvSpPr>
        <p:spPr>
          <a:xfrm>
            <a:off x="3219450" y="4539555"/>
            <a:ext cx="29146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2"/>
          <p:cNvSpPr/>
          <p:nvPr/>
        </p:nvSpPr>
        <p:spPr>
          <a:xfrm>
            <a:off x="6134100" y="4539555"/>
            <a:ext cx="28003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8934450" y="4539555"/>
            <a:ext cx="26860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2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Unsere Modelle:</a:t>
            </a: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7248" y="1235812"/>
            <a:ext cx="7117503" cy="4765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0" name="Google Shape;23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9907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3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GPU - Training</a:t>
            </a:r>
            <a:endParaRPr/>
          </a:p>
        </p:txBody>
      </p:sp>
      <p:sp>
        <p:nvSpPr>
          <p:cNvPr id="233" name="Google Shape;233;p23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96063" y="2314575"/>
            <a:ext cx="4762500" cy="3162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3"/>
          <p:cNvSpPr txBox="1"/>
          <p:nvPr/>
        </p:nvSpPr>
        <p:spPr>
          <a:xfrm>
            <a:off x="6456000" y="5800725"/>
            <a:ext cx="573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Bild: Wikipedia.org</a:t>
            </a:r>
            <a:endParaRPr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3"/>
          <p:cNvSpPr txBox="1"/>
          <p:nvPr/>
        </p:nvSpPr>
        <p:spPr>
          <a:xfrm>
            <a:off x="662850" y="2373050"/>
            <a:ext cx="82641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Bibliothek: Numpy -&gt; Pyopencl</a:t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Umgesetzt mir GPT5.2-Codex</a:t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	-&gt; Zu kompliziert für unser niveau</a:t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=&gt; Trainingszeit von von Stunden auf Minuten</a:t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1" name="Google Shape;24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227957"/>
            <a:ext cx="3492549" cy="33355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227957"/>
            <a:ext cx="3492549" cy="33355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227957"/>
            <a:ext cx="3492549" cy="3335535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4"/>
          <p:cNvSpPr txBox="1"/>
          <p:nvPr/>
        </p:nvSpPr>
        <p:spPr>
          <a:xfrm>
            <a:off x="784223" y="3323332"/>
            <a:ext cx="3067102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Daten &gt; Architektur</a:t>
            </a:r>
            <a:endParaRPr/>
          </a:p>
        </p:txBody>
      </p:sp>
      <p:sp>
        <p:nvSpPr>
          <p:cNvPr id="246" name="Google Shape;246;p24"/>
          <p:cNvSpPr txBox="1"/>
          <p:nvPr/>
        </p:nvSpPr>
        <p:spPr>
          <a:xfrm>
            <a:off x="857250" y="3894832"/>
            <a:ext cx="2921049" cy="88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Ein simples Netz mit perfekten Daten schlägt ein komplexes Netz mit schlechten Daten.</a:t>
            </a:r>
            <a:endParaRPr/>
          </a:p>
        </p:txBody>
      </p:sp>
      <p:sp>
        <p:nvSpPr>
          <p:cNvPr id="247" name="Google Shape;247;p24"/>
          <p:cNvSpPr txBox="1"/>
          <p:nvPr/>
        </p:nvSpPr>
        <p:spPr>
          <a:xfrm>
            <a:off x="4562523" y="3323332"/>
            <a:ext cx="3067102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Smart Training</a:t>
            </a:r>
            <a:endParaRPr/>
          </a:p>
        </p:txBody>
      </p:sp>
      <p:sp>
        <p:nvSpPr>
          <p:cNvPr id="248" name="Google Shape;248;p24"/>
          <p:cNvSpPr txBox="1"/>
          <p:nvPr/>
        </p:nvSpPr>
        <p:spPr>
          <a:xfrm>
            <a:off x="4635549" y="3894832"/>
            <a:ext cx="2921049" cy="1173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Optimizer wie Adam und Techniken wie Augmentation sind die wahren Game-Changer.</a:t>
            </a:r>
            <a:endParaRPr/>
          </a:p>
        </p:txBody>
      </p:sp>
      <p:sp>
        <p:nvSpPr>
          <p:cNvPr id="249" name="Google Shape;249;p24"/>
          <p:cNvSpPr txBox="1"/>
          <p:nvPr/>
        </p:nvSpPr>
        <p:spPr>
          <a:xfrm>
            <a:off x="8340822" y="3323332"/>
            <a:ext cx="3067102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Messen statt raten</a:t>
            </a:r>
            <a:endParaRPr/>
          </a:p>
        </p:txBody>
      </p:sp>
      <p:sp>
        <p:nvSpPr>
          <p:cNvPr id="250" name="Google Shape;250;p24"/>
          <p:cNvSpPr txBox="1"/>
          <p:nvPr/>
        </p:nvSpPr>
        <p:spPr>
          <a:xfrm>
            <a:off x="8413849" y="3894832"/>
            <a:ext cx="2921049" cy="88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Jede Änderung muss durch Metriken validiert werden. Bauchgefühl täuscht oft.</a:t>
            </a:r>
            <a:endParaRPr/>
          </a:p>
        </p:txBody>
      </p:sp>
      <p:pic>
        <p:nvPicPr>
          <p:cNvPr descr="image.png" id="251" name="Google Shape;251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108150" y="2589907"/>
            <a:ext cx="4191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57875" y="258990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3" name="Google Shape;253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636174" y="258990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4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Unsere 3 Learnings</a:t>
            </a:r>
            <a:endParaRPr/>
          </a:p>
        </p:txBody>
      </p:sp>
      <p:sp>
        <p:nvSpPr>
          <p:cNvPr id="255" name="Google Shape;255;p24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0" name="Google Shape;26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5"/>
          <p:cNvSpPr txBox="1"/>
          <p:nvPr/>
        </p:nvSpPr>
        <p:spPr>
          <a:xfrm>
            <a:off x="295350" y="2189452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Fragen?</a:t>
            </a:r>
            <a:endParaRPr/>
          </a:p>
        </p:txBody>
      </p:sp>
      <p:sp>
        <p:nvSpPr>
          <p:cNvPr id="262" name="Google Shape;262;p25"/>
          <p:cNvSpPr txBox="1"/>
          <p:nvPr/>
        </p:nvSpPr>
        <p:spPr>
          <a:xfrm>
            <a:off x="571575" y="3294352"/>
            <a:ext cx="11049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Vielen Dank für eure Aufmerksamkeit!</a:t>
            </a:r>
            <a:endParaRPr/>
          </a:p>
        </p:txBody>
      </p:sp>
      <p:sp>
        <p:nvSpPr>
          <p:cNvPr id="263" name="Google Shape;263;p25"/>
          <p:cNvSpPr txBox="1"/>
          <p:nvPr/>
        </p:nvSpPr>
        <p:spPr>
          <a:xfrm>
            <a:off x="571500" y="5456783"/>
            <a:ext cx="11049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5"/>
          <p:cNvSpPr txBox="1"/>
          <p:nvPr/>
        </p:nvSpPr>
        <p:spPr>
          <a:xfrm>
            <a:off x="5381625" y="6194117"/>
            <a:ext cx="1428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TCM-Team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