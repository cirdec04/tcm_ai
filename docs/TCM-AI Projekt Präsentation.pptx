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Impact" panose="020B0806030902050204" pitchFamily="34" charset="0"/>
      <p:regular r:id="rId16"/>
    </p:embeddedFont>
    <p:embeddedFont>
      <p:font typeface="JetBrains Mono" panose="020B0604020202020204" charset="0"/>
      <p:regular r:id="rId17"/>
      <p:bold r:id="rId18"/>
      <p:italic r:id="rId19"/>
      <p:boldItalic r:id="rId20"/>
    </p:embeddedFont>
    <p:embeddedFont>
      <p:font typeface="Urbanist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82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gesom\github\TCM_AI\docs\tcm_accuracy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de-CH"/>
              <a:t>Testing Accuracy of TCM Models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'[tcm_accuracy.xlsx]TCM Accuracy'!$C$2</c:f>
              <c:strCache>
                <c:ptCount val="1"/>
                <c:pt idx="0">
                  <c:v>Genauigkeit</c:v>
                </c:pt>
              </c:strCache>
            </c:strRef>
          </c:tx>
          <c:spPr>
            <a:ln>
              <a:prstDash val="solid"/>
            </a:ln>
          </c:spPr>
          <c:invertIfNegative val="1"/>
          <c:dPt>
            <c:idx val="0"/>
            <c:invertIfNegative val="1"/>
            <c:bubble3D val="0"/>
            <c:spPr>
              <a:prstGeom prst="rect">
                <a:avLst/>
              </a:prstGeom>
              <a:solidFill>
                <a:srgbClr val="4472C4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3FBE-4052-9492-64EBCF176823}"/>
              </c:ext>
            </c:extLst>
          </c:dPt>
          <c:dPt>
            <c:idx val="1"/>
            <c:invertIfNegative val="1"/>
            <c:bubble3D val="0"/>
            <c:spPr>
              <a:prstGeom prst="rect">
                <a:avLst/>
              </a:prstGeom>
              <a:solidFill>
                <a:srgbClr val="4472C4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3FBE-4052-9492-64EBCF176823}"/>
              </c:ext>
            </c:extLst>
          </c:dPt>
          <c:dPt>
            <c:idx val="2"/>
            <c:invertIfNegative val="1"/>
            <c:bubble3D val="0"/>
            <c:spPr>
              <a:prstGeom prst="rect">
                <a:avLst/>
              </a:prstGeom>
              <a:solidFill>
                <a:srgbClr val="4472C4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3FBE-4052-9492-64EBCF176823}"/>
              </c:ext>
            </c:extLst>
          </c:dPt>
          <c:dPt>
            <c:idx val="3"/>
            <c:invertIfNegative val="1"/>
            <c:bubble3D val="0"/>
            <c:spPr>
              <a:prstGeom prst="rect">
                <a:avLst/>
              </a:prstGeom>
              <a:solidFill>
                <a:srgbClr val="ED7D31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3FBE-4052-9492-64EBCF176823}"/>
              </c:ext>
            </c:extLst>
          </c:dPt>
          <c:dPt>
            <c:idx val="4"/>
            <c:invertIfNegative val="1"/>
            <c:bubble3D val="0"/>
            <c:spPr>
              <a:prstGeom prst="rect">
                <a:avLst/>
              </a:prstGeom>
              <a:solidFill>
                <a:srgbClr val="ED7D31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3FBE-4052-9492-64EBCF176823}"/>
              </c:ext>
            </c:extLst>
          </c:dPt>
          <c:dPt>
            <c:idx val="5"/>
            <c:invertIfNegative val="1"/>
            <c:bubble3D val="0"/>
            <c:spPr>
              <a:prstGeom prst="rect">
                <a:avLst/>
              </a:prstGeom>
              <a:solidFill>
                <a:srgbClr val="ED7D31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3FBE-4052-9492-64EBCF176823}"/>
              </c:ext>
            </c:extLst>
          </c:dPt>
          <c:dPt>
            <c:idx val="6"/>
            <c:invertIfNegative val="1"/>
            <c:bubble3D val="0"/>
            <c:spPr>
              <a:prstGeom prst="rect">
                <a:avLst/>
              </a:prstGeom>
              <a:solidFill>
                <a:srgbClr val="70AD47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D-3FBE-4052-9492-64EBCF176823}"/>
              </c:ext>
            </c:extLst>
          </c:dPt>
          <c:dPt>
            <c:idx val="7"/>
            <c:invertIfNegative val="1"/>
            <c:bubble3D val="0"/>
            <c:spPr>
              <a:prstGeom prst="rect">
                <a:avLst/>
              </a:prstGeom>
              <a:solidFill>
                <a:srgbClr val="70AD47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F-3FBE-4052-9492-64EBCF176823}"/>
              </c:ext>
            </c:extLst>
          </c:dPt>
          <c:dPt>
            <c:idx val="8"/>
            <c:invertIfNegative val="1"/>
            <c:bubble3D val="0"/>
            <c:spPr>
              <a:prstGeom prst="rect">
                <a:avLst/>
              </a:prstGeom>
              <a:solidFill>
                <a:srgbClr val="70AD47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1-3FBE-4052-9492-64EBCF176823}"/>
              </c:ext>
            </c:extLst>
          </c:dPt>
          <c:dPt>
            <c:idx val="9"/>
            <c:invertIfNegative val="1"/>
            <c:bubble3D val="0"/>
            <c:spPr>
              <a:prstGeom prst="rect">
                <a:avLst/>
              </a:prstGeom>
              <a:solidFill>
                <a:srgbClr val="FFC000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3-3FBE-4052-9492-64EBCF176823}"/>
              </c:ext>
            </c:extLst>
          </c:dPt>
          <c:dPt>
            <c:idx val="10"/>
            <c:invertIfNegative val="1"/>
            <c:bubble3D val="0"/>
            <c:spPr>
              <a:prstGeom prst="rect">
                <a:avLst/>
              </a:prstGeom>
              <a:solidFill>
                <a:srgbClr val="FFC000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5-3FBE-4052-9492-64EBCF176823}"/>
              </c:ext>
            </c:extLst>
          </c:dPt>
          <c:dPt>
            <c:idx val="11"/>
            <c:invertIfNegative val="1"/>
            <c:bubble3D val="0"/>
            <c:spPr>
              <a:prstGeom prst="rect">
                <a:avLst/>
              </a:prstGeom>
              <a:solidFill>
                <a:srgbClr val="FFC000"/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7-3FBE-4052-9492-64EBCF176823}"/>
              </c:ext>
            </c:extLst>
          </c:dPt>
          <c:dPt>
            <c:idx val="15"/>
            <c:invertIfNegative val="1"/>
            <c:bubble3D val="0"/>
            <c:spPr>
              <a:solidFill>
                <a:schemeClr val="accent2">
                  <a:lumMod val="75000"/>
                </a:schemeClr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9-3FBE-4052-9492-64EBCF176823}"/>
              </c:ext>
            </c:extLst>
          </c:dPt>
          <c:dPt>
            <c:idx val="16"/>
            <c:invertIfNegative val="1"/>
            <c:bubble3D val="0"/>
            <c:spPr>
              <a:solidFill>
                <a:schemeClr val="accent2">
                  <a:lumMod val="75000"/>
                </a:schemeClr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B-3FBE-4052-9492-64EBCF176823}"/>
              </c:ext>
            </c:extLst>
          </c:dPt>
          <c:dPt>
            <c:idx val="17"/>
            <c:invertIfNegative val="1"/>
            <c:bubble3D val="0"/>
            <c:spPr>
              <a:solidFill>
                <a:schemeClr val="accent2">
                  <a:lumMod val="75000"/>
                </a:schemeClr>
              </a:solidFill>
              <a:ln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D-3FBE-4052-9492-64EBCF176823}"/>
              </c:ext>
            </c:extLst>
          </c:dPt>
          <c:dPt>
            <c:idx val="18"/>
            <c:invertIfNegative val="1"/>
            <c:bubble3D val="0"/>
            <c:spPr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F-3FBE-4052-9492-64EBCF176823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'[tcm_accuracy.xlsx]TCM Accuracy'!$B$3:$B$21</c:f>
              <c:strCache>
                <c:ptCount val="19"/>
                <c:pt idx="0">
                  <c:v>TCM-o1-mini</c:v>
                </c:pt>
                <c:pt idx="1">
                  <c:v>TCM-o1</c:v>
                </c:pt>
                <c:pt idx="2">
                  <c:v>TCM-o1-pro</c:v>
                </c:pt>
                <c:pt idx="3">
                  <c:v>TCM-o2-mini</c:v>
                </c:pt>
                <c:pt idx="4">
                  <c:v>TCM-o2</c:v>
                </c:pt>
                <c:pt idx="5">
                  <c:v>TCM-o2-pro</c:v>
                </c:pt>
                <c:pt idx="6">
                  <c:v>TCM-o3-mini</c:v>
                </c:pt>
                <c:pt idx="7">
                  <c:v>TCM-o3</c:v>
                </c:pt>
                <c:pt idx="8">
                  <c:v>TCM-o3-pro</c:v>
                </c:pt>
                <c:pt idx="9">
                  <c:v>TCM-o4-mini</c:v>
                </c:pt>
                <c:pt idx="10">
                  <c:v>TCM-o4</c:v>
                </c:pt>
                <c:pt idx="11">
                  <c:v>TCM-o4.1-pro</c:v>
                </c:pt>
                <c:pt idx="12">
                  <c:v>TCM-o5-mini</c:v>
                </c:pt>
                <c:pt idx="13">
                  <c:v>TCM-o5</c:v>
                </c:pt>
                <c:pt idx="14">
                  <c:v>TCM-o5-pro</c:v>
                </c:pt>
                <c:pt idx="15">
                  <c:v>TCM-o5.1-mini</c:v>
                </c:pt>
                <c:pt idx="16">
                  <c:v>TCM-o5.1</c:v>
                </c:pt>
                <c:pt idx="17">
                  <c:v>TCM-o5.1-pro</c:v>
                </c:pt>
                <c:pt idx="18">
                  <c:v>TCM-05.2</c:v>
                </c:pt>
              </c:strCache>
            </c:strRef>
          </c:cat>
          <c:val>
            <c:numRef>
              <c:f>'[tcm_accuracy.xlsx]TCM Accuracy'!$C$3:$C$21</c:f>
              <c:numCache>
                <c:formatCode>0.00%</c:formatCode>
                <c:ptCount val="19"/>
                <c:pt idx="0">
                  <c:v>0.91849999999999998</c:v>
                </c:pt>
                <c:pt idx="1">
                  <c:v>0.91249999999999998</c:v>
                </c:pt>
                <c:pt idx="2">
                  <c:v>0.91449999999999998</c:v>
                </c:pt>
                <c:pt idx="3">
                  <c:v>0.92500000000000004</c:v>
                </c:pt>
                <c:pt idx="4">
                  <c:v>0.93700000000000006</c:v>
                </c:pt>
                <c:pt idx="5">
                  <c:v>0.94850000000000001</c:v>
                </c:pt>
                <c:pt idx="6">
                  <c:v>0.94310000000000005</c:v>
                </c:pt>
                <c:pt idx="7">
                  <c:v>0.9526</c:v>
                </c:pt>
                <c:pt idx="8">
                  <c:v>0.96030000000000004</c:v>
                </c:pt>
                <c:pt idx="9">
                  <c:v>0.96079999999999999</c:v>
                </c:pt>
                <c:pt idx="10">
                  <c:v>0.96519999999999995</c:v>
                </c:pt>
                <c:pt idx="11">
                  <c:v>0.98319999999999996</c:v>
                </c:pt>
                <c:pt idx="12">
                  <c:v>0.98809999999999998</c:v>
                </c:pt>
                <c:pt idx="13">
                  <c:v>0.99019999999999997</c:v>
                </c:pt>
                <c:pt idx="14">
                  <c:v>0.99010000000000009</c:v>
                </c:pt>
                <c:pt idx="15">
                  <c:v>0.99360000000000004</c:v>
                </c:pt>
                <c:pt idx="16">
                  <c:v>0.99379999999999991</c:v>
                </c:pt>
                <c:pt idx="17">
                  <c:v>0.99370000000000003</c:v>
                </c:pt>
                <c:pt idx="18">
                  <c:v>0.99590000000000001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3FBE-4052-9492-64EBCF1768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"/>
        <c:axId val="100"/>
      </c:barChart>
      <c:catAx>
        <c:axId val="1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0"/>
        <c:axPos val="b"/>
        <c:majorGridlines/>
        <c:numFmt formatCode="0.00%" sourceLinked="1"/>
        <c:majorTickMark val="none"/>
        <c:minorTickMark val="none"/>
        <c:tickLblPos val="nextTo"/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>
          <a:solidFill>
            <a:schemeClr val="bg1"/>
          </a:solidFill>
        </a:defRPr>
      </a:pPr>
      <a:endParaRPr lang="de-DE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Cedi</a:t>
            </a: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Cedi</a:t>
            </a: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Cedi</a:t>
            </a: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Cedric</a:t>
            </a:r>
            <a:endParaRPr/>
          </a:p>
        </p:txBody>
      </p:sp>
      <p:sp>
        <p:nvSpPr>
          <p:cNvPr id="121" name="Google Shape;12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ce440cd2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78" name="Google Shape;178;g3cce440cd2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Tim</a:t>
            </a: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ce440cd22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28" name="Google Shape;228;g3cce440cd22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Mika</a:t>
            </a:r>
            <a:endParaRPr/>
          </a:p>
        </p:txBody>
      </p:sp>
      <p:sp>
        <p:nvSpPr>
          <p:cNvPr id="239" name="Google Shape;23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8" name="Google Shape;25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824037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TCM-AI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2928937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Ziffernerkennung selbst gebaut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890962"/>
            <a:ext cx="11049000" cy="373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AFFD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 | Cédric | Mika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72312" y="1990725"/>
            <a:ext cx="3810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415629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Chaos der Handschrift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2987129"/>
            <a:ext cx="5286375" cy="58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Menschen erkennen eine "3" sofort, egal ob schief, dick oder dünn geschrieben.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783359"/>
            <a:ext cx="5286375" cy="58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Ein Computer sieht nur ein Gitter aus 784 Grauwerten (28x28 Pixel).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4579590"/>
            <a:ext cx="5286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91362" y="2009775"/>
            <a:ext cx="377190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Das Problem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17;p15">
            <a:extLst>
              <a:ext uri="{FF2B5EF4-FFF2-40B4-BE49-F238E27FC236}">
                <a16:creationId xmlns:a16="http://schemas.microsoft.com/office/drawing/2014/main" id="{B8488A10-34CF-1119-1A8C-3AADC2B88372}"/>
              </a:ext>
            </a:extLst>
          </p:cNvPr>
          <p:cNvSpPr txBox="1"/>
          <p:nvPr/>
        </p:nvSpPr>
        <p:spPr>
          <a:xfrm>
            <a:off x="8241583" y="5886300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gemini.google.com</a:t>
            </a:r>
            <a:endParaRPr dirty="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907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71500" y="2695575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Neuronale Architektur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571500" y="4299495"/>
            <a:ext cx="5286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14400" y="320897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52500" y="320992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Input: 784 Pixel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914400" y="350231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952500" y="350326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Hidden: 128 Neuronen (ReLu)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914400" y="379565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952500" y="379660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Output: 10 Ziffern (Softmax)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Lösung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6334125" y="5800725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gemini.google.com</a:t>
            </a:r>
            <a:endParaRPr dirty="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0879" y="2739862"/>
            <a:ext cx="5092872" cy="2406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52600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6334125" y="2067238"/>
            <a:ext cx="5286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Wir haben eine app.py gebaut, in der man direkt zeichnen kann.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334125" y="2863467"/>
            <a:ext cx="5286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Das Netz verarbeitet den Canvas-Input und liefert Wahrscheinlichkeiten für 0 bis 9.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Theorie vs. Praxis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6334113" y="3659698"/>
            <a:ext cx="5286300" cy="1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Die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Theoretischen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Werte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waren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manchmal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irreführend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trotz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insgesammt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weniger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als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9%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theorethischer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Verbesserung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sind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die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neusten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Modelle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Welten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besser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in der Praxis</a:t>
            </a:r>
            <a:endParaRPr dirty="0"/>
          </a:p>
        </p:txBody>
      </p:sp>
      <p:pic>
        <p:nvPicPr>
          <p:cNvPr id="130" name="Google Shape;13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8650" y="2200875"/>
            <a:ext cx="5150875" cy="348387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628650" y="6038850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TCM-APP UI</a:t>
            </a:r>
            <a:endParaRPr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 txBox="1"/>
          <p:nvPr/>
        </p:nvSpPr>
        <p:spPr>
          <a:xfrm>
            <a:off x="571500" y="2615505"/>
            <a:ext cx="5286375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91%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44305"/>
            <a:ext cx="5286375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Accuracy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6334125" y="2562225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Erste Gehversuche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6334125" y="3133725"/>
            <a:ext cx="5286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10k Trainingsdaten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6334125" y="3929955"/>
            <a:ext cx="5286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Standard SGD (Stochastic Gradient Descent).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6334125" y="5229070"/>
            <a:ext cx="5286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Fazit: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Solide, aber bei komplexen Handschriften noch überfordert.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o1: Der Anfang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6334163" y="4599143"/>
            <a:ext cx="5286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Einstellungen mehr guess als optimal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59309"/>
            <a:ext cx="5381625" cy="3188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859309"/>
            <a:ext cx="5381625" cy="318894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71500" y="5429250"/>
            <a:ext cx="1104900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Die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wichtigste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Lektion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 </a:t>
            </a:r>
            <a:r>
              <a:rPr lang="en-US" sz="165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Datenqualität</a:t>
            </a:r>
            <a:r>
              <a:rPr lang="en-US" sz="165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und -</a:t>
            </a:r>
            <a:r>
              <a:rPr lang="en-US" sz="165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quantität</a:t>
            </a:r>
            <a:r>
              <a:rPr lang="en-US" sz="165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schlagen</a:t>
            </a:r>
            <a:r>
              <a:rPr lang="en-US" sz="165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oft Modell-</a:t>
            </a:r>
            <a:r>
              <a:rPr lang="en-US" sz="165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Komplexität</a:t>
            </a:r>
            <a:r>
              <a:rPr lang="en-US" sz="165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4" name="Google Shape;154;p18"/>
          <p:cNvSpPr txBox="1"/>
          <p:nvPr/>
        </p:nvSpPr>
        <p:spPr>
          <a:xfrm>
            <a:off x="736996" y="2183159"/>
            <a:ext cx="505063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Reduced MNIST</a:t>
            </a:r>
            <a:endParaRPr/>
          </a:p>
        </p:txBody>
      </p:sp>
      <p:sp>
        <p:nvSpPr>
          <p:cNvPr id="155" name="Google Shape;155;p18"/>
          <p:cNvSpPr txBox="1"/>
          <p:nvPr/>
        </p:nvSpPr>
        <p:spPr>
          <a:xfrm>
            <a:off x="857250" y="2754659"/>
            <a:ext cx="481012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10.000 Bilder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857250" y="3619500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91%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6404371" y="2183159"/>
            <a:ext cx="505063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Full MNIST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6524625" y="2754659"/>
            <a:ext cx="481012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60.000 Bilder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6524625" y="3619500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96%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o3: Daten-Boost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9"/>
          <p:cNvSpPr txBox="1"/>
          <p:nvPr/>
        </p:nvSpPr>
        <p:spPr>
          <a:xfrm>
            <a:off x="571500" y="2562225"/>
            <a:ext cx="5550693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Training mit Strategie</a:t>
            </a:r>
            <a:endParaRPr/>
          </a:p>
        </p:txBody>
      </p:sp>
      <p:sp>
        <p:nvSpPr>
          <p:cNvPr id="168" name="Google Shape;168;p19"/>
          <p:cNvSpPr txBox="1"/>
          <p:nvPr/>
        </p:nvSpPr>
        <p:spPr>
          <a:xfrm>
            <a:off x="571500" y="3133725"/>
            <a:ext cx="5286375" cy="58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Statt stumpfem Gradientenabstieg: </a:t>
            </a: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Adam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(Adaptive Moment Estimation).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594237" y="5100146"/>
            <a:ext cx="5286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Ergebnis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 Sprung auf </a:t>
            </a:r>
            <a:r>
              <a:rPr lang="en-US" sz="165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98,2%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Accuracy.</a:t>
            </a:r>
            <a:endParaRPr dirty="0"/>
          </a:p>
        </p:txBody>
      </p:sp>
      <p:sp>
        <p:nvSpPr>
          <p:cNvPr id="170" name="Google Shape;170;p19"/>
          <p:cNvSpPr txBox="1"/>
          <p:nvPr/>
        </p:nvSpPr>
        <p:spPr>
          <a:xfrm>
            <a:off x="914400" y="3929002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71" name="Google Shape;171;p19"/>
          <p:cNvSpPr txBox="1"/>
          <p:nvPr/>
        </p:nvSpPr>
        <p:spPr>
          <a:xfrm>
            <a:off x="952500" y="392995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Individuelle Lernrate pro Neuron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914400" y="4222343"/>
            <a:ext cx="3810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952500" y="4223295"/>
            <a:ext cx="4905375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Momentum ("Gedächtnis") für schnellere Konvergenz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o4.1: Adam-Optimizer</a:t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907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0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</a:t>
            </a:r>
            <a:r>
              <a:rPr lang="en-US" sz="3600" b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5:</a:t>
            </a:r>
            <a:endParaRPr/>
          </a:p>
        </p:txBody>
      </p:sp>
      <p:sp>
        <p:nvSpPr>
          <p:cNvPr id="183" name="Google Shape;183;p20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 txBox="1"/>
          <p:nvPr/>
        </p:nvSpPr>
        <p:spPr>
          <a:xfrm>
            <a:off x="571500" y="2427982"/>
            <a:ext cx="5200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Das Mega-Dataset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571500" y="314235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Wir haben MNIST mit EMNIST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Daten 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kombiniert.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571500" y="385479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Insgesammt 300k Trainingsdaten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571500" y="486057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Das Ziel: Generalisierung statt Auswendiglernen.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6374663" y="3304600"/>
            <a:ext cx="5205300" cy="13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CCCCCC"/>
                </a:solidFill>
                <a:latin typeface="Impact"/>
                <a:ea typeface="Impact"/>
                <a:cs typeface="Impact"/>
                <a:sym typeface="Impact"/>
              </a:rPr>
              <a:t>30X - Trainingsdaten</a:t>
            </a:r>
            <a:endParaRPr sz="4600">
              <a:solidFill>
                <a:srgbClr val="CCCCCC"/>
              </a:solidFill>
              <a:latin typeface="Impact"/>
              <a:ea typeface="Impact"/>
              <a:cs typeface="Impact"/>
              <a:sym typeface="Impact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Im Vergleich zum Anfang</a:t>
            </a:r>
            <a:endParaRPr sz="3000">
              <a:solidFill>
                <a:srgbClr val="CCCCC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43992"/>
            <a:ext cx="3492549" cy="3209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943992"/>
            <a:ext cx="3492549" cy="3209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943992"/>
            <a:ext cx="3492549" cy="3209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14375" y="2124967"/>
            <a:ext cx="3206799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92674" y="2124967"/>
            <a:ext cx="3206799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270974" y="2124967"/>
            <a:ext cx="3206799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1"/>
          <p:cNvSpPr txBox="1"/>
          <p:nvPr/>
        </p:nvSpPr>
        <p:spPr>
          <a:xfrm>
            <a:off x="571500" y="5344417"/>
            <a:ext cx="11049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Künstliche Vervielfältigung der Daten für </a:t>
            </a: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99,</a:t>
            </a:r>
            <a:r>
              <a:rPr lang="en-US" sz="1650" b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38</a:t>
            </a: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% Accuracy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634205" y="4506217"/>
            <a:ext cx="3367139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Rotation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4412504" y="4506217"/>
            <a:ext cx="3367139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Skalierung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8190804" y="4506217"/>
            <a:ext cx="3367139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Rauschen</a:t>
            </a:r>
            <a:endParaRPr/>
          </a:p>
        </p:txBody>
      </p:sp>
      <p:pic>
        <p:nvPicPr>
          <p:cNvPr id="204" name="Google Shape;204;p2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33425" y="2144017"/>
            <a:ext cx="3168699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511724" y="2144017"/>
            <a:ext cx="3168699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1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290024" y="2144017"/>
            <a:ext cx="3168699" cy="2343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Generation o5.</a:t>
            </a:r>
            <a:r>
              <a:rPr lang="en-US" sz="3600" b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1</a:t>
            </a: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: Augmentation</a:t>
            </a:r>
            <a:endParaRPr/>
          </a:p>
        </p:txBody>
      </p:sp>
      <p:sp>
        <p:nvSpPr>
          <p:cNvPr id="208" name="Google Shape;208;p21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2"/>
          <p:cNvSpPr txBox="1"/>
          <p:nvPr/>
        </p:nvSpPr>
        <p:spPr>
          <a:xfrm>
            <a:off x="571500" y="6111317"/>
            <a:ext cx="11049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Überraschend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 37-fache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Grö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ss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bringt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kein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Mehrwert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65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o3-pro (10M Parameter) cs o5.2-mini (0.3M Parameter)</a:t>
            </a:r>
            <a:endParaRPr dirty="0"/>
          </a:p>
        </p:txBody>
      </p:sp>
      <p:sp>
        <p:nvSpPr>
          <p:cNvPr id="223" name="Google Shape;223;p22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Unsere Modelle:</a:t>
            </a: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2662625"/>
              </p:ext>
            </p:extLst>
          </p:nvPr>
        </p:nvGraphicFramePr>
        <p:xfrm>
          <a:off x="2290916" y="1123950"/>
          <a:ext cx="7610167" cy="4877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907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3"/>
          <p:cNvSpPr txBox="1"/>
          <p:nvPr/>
        </p:nvSpPr>
        <p:spPr>
          <a:xfrm>
            <a:off x="762000" y="57150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GPU - Training</a:t>
            </a:r>
            <a:endParaRPr/>
          </a:p>
        </p:txBody>
      </p:sp>
      <p:sp>
        <p:nvSpPr>
          <p:cNvPr id="233" name="Google Shape;233;p23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96063" y="2314575"/>
            <a:ext cx="4762500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3"/>
          <p:cNvSpPr txBox="1"/>
          <p:nvPr/>
        </p:nvSpPr>
        <p:spPr>
          <a:xfrm>
            <a:off x="6456000" y="5800725"/>
            <a:ext cx="573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Bild: Wikipedia.org</a:t>
            </a:r>
            <a:endParaRPr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3"/>
          <p:cNvSpPr txBox="1"/>
          <p:nvPr/>
        </p:nvSpPr>
        <p:spPr>
          <a:xfrm>
            <a:off x="662850" y="2373050"/>
            <a:ext cx="82641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Bibliothek: Numpy -&gt; Pyopencl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Umgesetzt mir GPT5.2-Codex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	-&gt; Zu kompliziert für unser niveau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=&gt; Trainingszeit von von Stunden auf Minuten</a:t>
            </a:r>
            <a:endParaRPr sz="23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7957"/>
            <a:ext cx="3492549" cy="3335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27957"/>
            <a:ext cx="3492549" cy="3335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27957"/>
            <a:ext cx="3492549" cy="3335535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4"/>
          <p:cNvSpPr txBox="1"/>
          <p:nvPr/>
        </p:nvSpPr>
        <p:spPr>
          <a:xfrm>
            <a:off x="784223" y="3323332"/>
            <a:ext cx="3067102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Daten &gt; Architektur</a:t>
            </a:r>
            <a:endParaRPr/>
          </a:p>
        </p:txBody>
      </p:sp>
      <p:sp>
        <p:nvSpPr>
          <p:cNvPr id="246" name="Google Shape;246;p24"/>
          <p:cNvSpPr txBox="1"/>
          <p:nvPr/>
        </p:nvSpPr>
        <p:spPr>
          <a:xfrm>
            <a:off x="857250" y="3894832"/>
            <a:ext cx="2921049" cy="880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Ein simples Netz mit perfekten Daten schlägt ein komplexes Netz mit schlechten Daten.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4562523" y="3323332"/>
            <a:ext cx="3067102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Smart Training</a:t>
            </a:r>
            <a:endParaRPr/>
          </a:p>
        </p:txBody>
      </p:sp>
      <p:sp>
        <p:nvSpPr>
          <p:cNvPr id="248" name="Google Shape;248;p24"/>
          <p:cNvSpPr txBox="1"/>
          <p:nvPr/>
        </p:nvSpPr>
        <p:spPr>
          <a:xfrm>
            <a:off x="4635549" y="3894832"/>
            <a:ext cx="2921049" cy="117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Optimizer wie Adam und Techniken wie Augmentation sind die wahren Game-Changer.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8340822" y="3323332"/>
            <a:ext cx="3067102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Messen statt raten</a:t>
            </a:r>
            <a:endParaRPr/>
          </a:p>
        </p:txBody>
      </p:sp>
      <p:sp>
        <p:nvSpPr>
          <p:cNvPr id="250" name="Google Shape;250;p24"/>
          <p:cNvSpPr txBox="1"/>
          <p:nvPr/>
        </p:nvSpPr>
        <p:spPr>
          <a:xfrm>
            <a:off x="8413849" y="3894832"/>
            <a:ext cx="2921049" cy="880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Jede Änderung muss durch Metriken validiert werden. Bauchgefühl täuscht oft.</a:t>
            </a:r>
            <a:endParaRPr/>
          </a:p>
        </p:txBody>
      </p:sp>
      <p:pic>
        <p:nvPicPr>
          <p:cNvPr id="251" name="Google Shape;251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08150" y="2589907"/>
            <a:ext cx="4191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875" y="258990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36174" y="258990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4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Unsere 3 Learnings</a:t>
            </a:r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5"/>
          <p:cNvSpPr txBox="1"/>
          <p:nvPr/>
        </p:nvSpPr>
        <p:spPr>
          <a:xfrm>
            <a:off x="295350" y="218945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D4AA"/>
                </a:solidFill>
                <a:latin typeface="Urbanist"/>
                <a:ea typeface="Urbanist"/>
                <a:cs typeface="Urbanist"/>
                <a:sym typeface="Urbanist"/>
              </a:rPr>
              <a:t>Fragen?</a:t>
            </a:r>
            <a:endParaRPr/>
          </a:p>
        </p:txBody>
      </p:sp>
      <p:sp>
        <p:nvSpPr>
          <p:cNvPr id="262" name="Google Shape;262;p25"/>
          <p:cNvSpPr txBox="1"/>
          <p:nvPr/>
        </p:nvSpPr>
        <p:spPr>
          <a:xfrm>
            <a:off x="571575" y="3294352"/>
            <a:ext cx="11049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Vielen Dank für eure Aufmerksamkeit!</a:t>
            </a:r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571500" y="5456783"/>
            <a:ext cx="11049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5"/>
          <p:cNvSpPr txBox="1"/>
          <p:nvPr/>
        </p:nvSpPr>
        <p:spPr>
          <a:xfrm>
            <a:off x="5381625" y="6194117"/>
            <a:ext cx="14289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TCM-Team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416</Words>
  <Application>Microsoft Office PowerPoint</Application>
  <PresentationFormat>Breitbild</PresentationFormat>
  <Paragraphs>91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JetBrains Mono</vt:lpstr>
      <vt:lpstr>Urbanist</vt:lpstr>
      <vt:lpstr>Calibri</vt:lpstr>
      <vt:lpstr>Arial</vt:lpstr>
      <vt:lpstr>Impact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Bleuer Tim</cp:lastModifiedBy>
  <cp:revision>3</cp:revision>
  <dcterms:modified xsi:type="dcterms:W3CDTF">2026-03-23T12:09:21Z</dcterms:modified>
</cp:coreProperties>
</file>