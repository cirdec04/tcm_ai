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Impact" panose="020B0806030902050204" pitchFamily="34" charset="0"/>
      <p:regular r:id="rId16"/>
    </p:embeddedFont>
    <p:embeddedFont>
      <p:font typeface="JetBrains Mono" panose="020B0604020202020204" charset="0"/>
      <p:regular r:id="rId17"/>
      <p:bold r:id="rId18"/>
      <p:italic r:id="rId19"/>
      <p:boldItalic r:id="rId20"/>
    </p:embeddedFont>
    <p:embeddedFont>
      <p:font typeface="Urbanist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gesom\github\TCM_AI\docs\tcm_accuracy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de-CH"/>
              <a:t>Testing Accuracy of TCM Models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'[tcm_accuracy.xlsx]TCM Accuracy'!$C$2</c:f>
              <c:strCache>
                <c:ptCount val="1"/>
                <c:pt idx="0">
                  <c:v>Genauigkeit</c:v>
                </c:pt>
              </c:strCache>
            </c:strRef>
          </c:tx>
          <c:spPr>
            <a:ln>
              <a:prstDash val="solid"/>
            </a:ln>
          </c:spPr>
          <c:invertIfNegative val="1"/>
          <c:dPt>
            <c:idx val="0"/>
            <c:invertIfNegative val="1"/>
            <c:bubble3D val="0"/>
            <c:spPr>
              <a:prstGeom prst="rect">
                <a:avLst/>
              </a:prstGeom>
              <a:solidFill>
                <a:srgbClr val="4472C4"/>
              </a:solidFill>
              <a:ln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3FBE-4052-9492-64EBCF176823}"/>
              </c:ext>
            </c:extLst>
          </c:dPt>
          <c:dPt>
            <c:idx val="1"/>
            <c:invertIfNegative val="1"/>
            <c:bubble3D val="0"/>
            <c:spPr>
              <a:prstGeom prst="rect">
                <a:avLst/>
              </a:prstGeom>
              <a:solidFill>
                <a:srgbClr val="4472C4"/>
              </a:solidFill>
              <a:ln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3FBE-4052-9492-64EBCF176823}"/>
              </c:ext>
            </c:extLst>
          </c:dPt>
          <c:dPt>
            <c:idx val="2"/>
            <c:invertIfNegative val="1"/>
            <c:bubble3D val="0"/>
            <c:spPr>
              <a:prstGeom prst="rect">
                <a:avLst/>
              </a:prstGeom>
              <a:solidFill>
                <a:srgbClr val="4472C4"/>
              </a:solidFill>
              <a:ln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3FBE-4052-9492-64EBCF176823}"/>
              </c:ext>
            </c:extLst>
          </c:dPt>
          <c:dPt>
            <c:idx val="3"/>
            <c:invertIfNegative val="1"/>
            <c:bubble3D val="0"/>
            <c:spPr>
              <a:prstGeom prst="rect">
                <a:avLst/>
              </a:prstGeom>
              <a:solidFill>
                <a:srgbClr val="ED7D31"/>
              </a:solidFill>
              <a:ln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3FBE-4052-9492-64EBCF176823}"/>
              </c:ext>
            </c:extLst>
          </c:dPt>
          <c:dPt>
            <c:idx val="4"/>
            <c:invertIfNegative val="1"/>
            <c:bubble3D val="0"/>
            <c:spPr>
              <a:prstGeom prst="rect">
                <a:avLst/>
              </a:prstGeom>
              <a:solidFill>
                <a:srgbClr val="ED7D31"/>
              </a:solidFill>
              <a:ln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9-3FBE-4052-9492-64EBCF176823}"/>
              </c:ext>
            </c:extLst>
          </c:dPt>
          <c:dPt>
            <c:idx val="5"/>
            <c:invertIfNegative val="1"/>
            <c:bubble3D val="0"/>
            <c:spPr>
              <a:prstGeom prst="rect">
                <a:avLst/>
              </a:prstGeom>
              <a:solidFill>
                <a:srgbClr val="ED7D31"/>
              </a:solidFill>
              <a:ln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B-3FBE-4052-9492-64EBCF176823}"/>
              </c:ext>
            </c:extLst>
          </c:dPt>
          <c:dPt>
            <c:idx val="6"/>
            <c:invertIfNegative val="1"/>
            <c:bubble3D val="0"/>
            <c:spPr>
              <a:prstGeom prst="rect">
                <a:avLst/>
              </a:prstGeom>
              <a:solidFill>
                <a:srgbClr val="70AD47"/>
              </a:solidFill>
              <a:ln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D-3FBE-4052-9492-64EBCF176823}"/>
              </c:ext>
            </c:extLst>
          </c:dPt>
          <c:dPt>
            <c:idx val="7"/>
            <c:invertIfNegative val="1"/>
            <c:bubble3D val="0"/>
            <c:spPr>
              <a:prstGeom prst="rect">
                <a:avLst/>
              </a:prstGeom>
              <a:solidFill>
                <a:srgbClr val="70AD47"/>
              </a:solidFill>
              <a:ln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F-3FBE-4052-9492-64EBCF176823}"/>
              </c:ext>
            </c:extLst>
          </c:dPt>
          <c:dPt>
            <c:idx val="8"/>
            <c:invertIfNegative val="1"/>
            <c:bubble3D val="0"/>
            <c:spPr>
              <a:prstGeom prst="rect">
                <a:avLst/>
              </a:prstGeom>
              <a:solidFill>
                <a:srgbClr val="70AD47"/>
              </a:solidFill>
              <a:ln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1-3FBE-4052-9492-64EBCF176823}"/>
              </c:ext>
            </c:extLst>
          </c:dPt>
          <c:dPt>
            <c:idx val="9"/>
            <c:invertIfNegative val="1"/>
            <c:bubble3D val="0"/>
            <c:spPr>
              <a:prstGeom prst="rect">
                <a:avLst/>
              </a:prstGeom>
              <a:solidFill>
                <a:srgbClr val="FFC000"/>
              </a:solidFill>
              <a:ln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3-3FBE-4052-9492-64EBCF176823}"/>
              </c:ext>
            </c:extLst>
          </c:dPt>
          <c:dPt>
            <c:idx val="10"/>
            <c:invertIfNegative val="1"/>
            <c:bubble3D val="0"/>
            <c:spPr>
              <a:prstGeom prst="rect">
                <a:avLst/>
              </a:prstGeom>
              <a:solidFill>
                <a:srgbClr val="FFC000"/>
              </a:solidFill>
              <a:ln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5-3FBE-4052-9492-64EBCF176823}"/>
              </c:ext>
            </c:extLst>
          </c:dPt>
          <c:dPt>
            <c:idx val="11"/>
            <c:invertIfNegative val="1"/>
            <c:bubble3D val="0"/>
            <c:spPr>
              <a:prstGeom prst="rect">
                <a:avLst/>
              </a:prstGeom>
              <a:solidFill>
                <a:srgbClr val="FFC000"/>
              </a:solidFill>
              <a:ln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7-3FBE-4052-9492-64EBCF176823}"/>
              </c:ext>
            </c:extLst>
          </c:dPt>
          <c:dPt>
            <c:idx val="15"/>
            <c:invertIfNegative val="1"/>
            <c:bubble3D val="0"/>
            <c:spPr>
              <a:solidFill>
                <a:schemeClr val="accent2">
                  <a:lumMod val="75000"/>
                </a:schemeClr>
              </a:solidFill>
              <a:ln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9-3FBE-4052-9492-64EBCF176823}"/>
              </c:ext>
            </c:extLst>
          </c:dPt>
          <c:dPt>
            <c:idx val="16"/>
            <c:invertIfNegative val="1"/>
            <c:bubble3D val="0"/>
            <c:spPr>
              <a:solidFill>
                <a:schemeClr val="accent2">
                  <a:lumMod val="75000"/>
                </a:schemeClr>
              </a:solidFill>
              <a:ln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B-3FBE-4052-9492-64EBCF176823}"/>
              </c:ext>
            </c:extLst>
          </c:dPt>
          <c:dPt>
            <c:idx val="17"/>
            <c:invertIfNegative val="1"/>
            <c:bubble3D val="0"/>
            <c:spPr>
              <a:solidFill>
                <a:schemeClr val="accent2">
                  <a:lumMod val="75000"/>
                </a:schemeClr>
              </a:solidFill>
              <a:ln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D-3FBE-4052-9492-64EBCF176823}"/>
              </c:ext>
            </c:extLst>
          </c:dPt>
          <c:dPt>
            <c:idx val="18"/>
            <c:invertIfNegative val="1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F-3FBE-4052-9492-64EBCF176823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'[tcm_accuracy.xlsx]TCM Accuracy'!$B$3:$B$21</c:f>
              <c:strCache>
                <c:ptCount val="19"/>
                <c:pt idx="0">
                  <c:v>TCM-o1-mini</c:v>
                </c:pt>
                <c:pt idx="1">
                  <c:v>TCM-o1</c:v>
                </c:pt>
                <c:pt idx="2">
                  <c:v>TCM-o1-pro</c:v>
                </c:pt>
                <c:pt idx="3">
                  <c:v>TCM-o2-mini</c:v>
                </c:pt>
                <c:pt idx="4">
                  <c:v>TCM-o2</c:v>
                </c:pt>
                <c:pt idx="5">
                  <c:v>TCM-o2-pro</c:v>
                </c:pt>
                <c:pt idx="6">
                  <c:v>TCM-o3-mini</c:v>
                </c:pt>
                <c:pt idx="7">
                  <c:v>TCM-o3</c:v>
                </c:pt>
                <c:pt idx="8">
                  <c:v>TCM-o3-pro</c:v>
                </c:pt>
                <c:pt idx="9">
                  <c:v>TCM-o4-mini</c:v>
                </c:pt>
                <c:pt idx="10">
                  <c:v>TCM-o4</c:v>
                </c:pt>
                <c:pt idx="11">
                  <c:v>TCM-o4.1-pro</c:v>
                </c:pt>
                <c:pt idx="12">
                  <c:v>TCM-o5-mini</c:v>
                </c:pt>
                <c:pt idx="13">
                  <c:v>TCM-o5</c:v>
                </c:pt>
                <c:pt idx="14">
                  <c:v>TCM-o5-pro</c:v>
                </c:pt>
                <c:pt idx="15">
                  <c:v>TCM-o5.1-mini</c:v>
                </c:pt>
                <c:pt idx="16">
                  <c:v>TCM-o5.1</c:v>
                </c:pt>
                <c:pt idx="17">
                  <c:v>TCM-o5.1-pro</c:v>
                </c:pt>
                <c:pt idx="18">
                  <c:v>TCM-05.2</c:v>
                </c:pt>
              </c:strCache>
            </c:strRef>
          </c:cat>
          <c:val>
            <c:numRef>
              <c:f>'[tcm_accuracy.xlsx]TCM Accuracy'!$C$3:$C$21</c:f>
              <c:numCache>
                <c:formatCode>0.00%</c:formatCode>
                <c:ptCount val="19"/>
                <c:pt idx="0">
                  <c:v>0.91849999999999998</c:v>
                </c:pt>
                <c:pt idx="1">
                  <c:v>0.91249999999999998</c:v>
                </c:pt>
                <c:pt idx="2">
                  <c:v>0.91449999999999998</c:v>
                </c:pt>
                <c:pt idx="3">
                  <c:v>0.92500000000000004</c:v>
                </c:pt>
                <c:pt idx="4">
                  <c:v>0.93700000000000006</c:v>
                </c:pt>
                <c:pt idx="5">
                  <c:v>0.94850000000000001</c:v>
                </c:pt>
                <c:pt idx="6">
                  <c:v>0.94310000000000005</c:v>
                </c:pt>
                <c:pt idx="7">
                  <c:v>0.9526</c:v>
                </c:pt>
                <c:pt idx="8">
                  <c:v>0.96030000000000004</c:v>
                </c:pt>
                <c:pt idx="9">
                  <c:v>0.96079999999999999</c:v>
                </c:pt>
                <c:pt idx="10">
                  <c:v>0.96519999999999995</c:v>
                </c:pt>
                <c:pt idx="11">
                  <c:v>0.98319999999999996</c:v>
                </c:pt>
                <c:pt idx="12">
                  <c:v>0.98809999999999998</c:v>
                </c:pt>
                <c:pt idx="13">
                  <c:v>0.99019999999999997</c:v>
                </c:pt>
                <c:pt idx="14">
                  <c:v>0.99010000000000009</c:v>
                </c:pt>
                <c:pt idx="15">
                  <c:v>0.99360000000000004</c:v>
                </c:pt>
                <c:pt idx="16">
                  <c:v>0.99379999999999991</c:v>
                </c:pt>
                <c:pt idx="17">
                  <c:v>0.99370000000000003</c:v>
                </c:pt>
                <c:pt idx="18">
                  <c:v>0.99590000000000001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3FBE-4052-9492-64EBCF1768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catAx>
        <c:axId val="1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100"/>
        <c:crosses val="autoZero"/>
        <c:auto val="1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b"/>
        <c:majorGridlines/>
        <c:numFmt formatCode="0.00%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>
          <a:solidFill>
            <a:schemeClr val="bg1"/>
          </a:solidFill>
        </a:defRPr>
      </a:pPr>
      <a:endParaRPr lang="de-DE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Cedi</a:t>
            </a: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Cedi</a:t>
            </a: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Cedi</a:t>
            </a: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Cedric</a:t>
            </a: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</a:t>
            </a: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</a:t>
            </a: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</a:t>
            </a: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ce440cd2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</a:t>
            </a:r>
            <a:endParaRPr/>
          </a:p>
        </p:txBody>
      </p:sp>
      <p:sp>
        <p:nvSpPr>
          <p:cNvPr id="178" name="Google Shape;178;g3cce440cd2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</a:t>
            </a: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Mika</a:t>
            </a: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ce440cd22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Mika</a:t>
            </a:r>
            <a:endParaRPr/>
          </a:p>
        </p:txBody>
      </p:sp>
      <p:sp>
        <p:nvSpPr>
          <p:cNvPr id="228" name="Google Shape;228;g3cce440cd22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Mika</a:t>
            </a:r>
            <a:endParaRPr/>
          </a:p>
        </p:txBody>
      </p:sp>
      <p:sp>
        <p:nvSpPr>
          <p:cNvPr id="239" name="Google Shape;2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Mika</a:t>
            </a:r>
            <a:endParaRPr/>
          </a:p>
        </p:txBody>
      </p:sp>
      <p:sp>
        <p:nvSpPr>
          <p:cNvPr id="258" name="Google Shape;2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824037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D4AA"/>
                </a:solidFill>
                <a:latin typeface="Urbanist"/>
                <a:ea typeface="Urbanist"/>
                <a:cs typeface="Urbanist"/>
                <a:sym typeface="Urbanist"/>
              </a:rPr>
              <a:t>TCM-AI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928937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Ziffernerkennung selbst gebaut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890962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AFFD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Tim | Cédric | Mika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2312" y="1990725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415629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AA"/>
                </a:solidFill>
                <a:latin typeface="Urbanist"/>
                <a:ea typeface="Urbanist"/>
                <a:cs typeface="Urbanist"/>
                <a:sym typeface="Urbanist"/>
              </a:rPr>
              <a:t>Chaos der Handschrift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987129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Menschen erkennen eine "3" sofort, egal ob schief, dick oder dünn geschrieben.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783359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Ein Computer sieht nur ein Gitter aus 784 Grauwerten (28x28 Pixel).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4579590"/>
            <a:ext cx="5286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91362" y="2009775"/>
            <a:ext cx="3771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Das Problem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2695575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AA"/>
                </a:solidFill>
                <a:latin typeface="Urbanist"/>
                <a:ea typeface="Urbanist"/>
                <a:cs typeface="Urbanist"/>
                <a:sym typeface="Urbanist"/>
              </a:rPr>
              <a:t>Neuronale Architektur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4299495"/>
            <a:ext cx="5286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14400" y="3208972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52500" y="3209925"/>
            <a:ext cx="4905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Input: 784 Pixel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14400" y="3502312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52500" y="3503265"/>
            <a:ext cx="4905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Hidden: 128 Neuronen (ReLu)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14400" y="3795652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52500" y="3796605"/>
            <a:ext cx="4905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Output: 10 Ziffern (Softmax)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Lösung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6334125" y="5800725"/>
            <a:ext cx="57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Bild: gemini.google.com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0879" y="2739862"/>
            <a:ext cx="5092872" cy="2406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526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6334125" y="2067238"/>
            <a:ext cx="5286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Wir haben eine app.py gebaut, in der man direkt zeichnen kann.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334125" y="2863467"/>
            <a:ext cx="5286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Das Netz verarbeitet den Canvas-Input und liefert Wahrscheinlichkeiten für 0 bis 9.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Theorie vs. Praxis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6334113" y="3659698"/>
            <a:ext cx="5286300" cy="1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Die Theoretischen Werte waren manchmal irreführend. trotz insgesammt weniger als 9% theorethischer verbesserung sind die Neusten Modelle Welten besser in der Praxis</a:t>
            </a:r>
            <a:endParaRPr/>
          </a:p>
        </p:txBody>
      </p:sp>
      <p:pic>
        <p:nvPicPr>
          <p:cNvPr id="130" name="Google Shape;13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650" y="2200875"/>
            <a:ext cx="5150875" cy="348387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628650" y="6038850"/>
            <a:ext cx="57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Bild: TCM-APP UI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2615505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00D4AA"/>
                </a:solidFill>
                <a:latin typeface="Urbanist"/>
                <a:ea typeface="Urbanist"/>
                <a:cs typeface="Urbanist"/>
                <a:sym typeface="Urbanist"/>
              </a:rPr>
              <a:t>91%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4444305"/>
            <a:ext cx="528637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Accuracy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334125" y="2562225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AA"/>
                </a:solidFill>
                <a:latin typeface="Urbanist"/>
                <a:ea typeface="Urbanist"/>
                <a:cs typeface="Urbanist"/>
                <a:sym typeface="Urbanist"/>
              </a:rPr>
              <a:t>Erste Gehversuche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334125" y="3133725"/>
            <a:ext cx="5286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10k Trainingsdaten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334125" y="3929955"/>
            <a:ext cx="5286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Standard SGD (Stochastic Gradient Descent).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334125" y="5229070"/>
            <a:ext cx="5286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Fazit: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Solide, aber bei komplexen Handschriften noch überfordert.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Generation o1: Der Anfang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6334163" y="4599143"/>
            <a:ext cx="5286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Einstellungen mehr guess als optimal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59309"/>
            <a:ext cx="5381625" cy="3188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859309"/>
            <a:ext cx="5381625" cy="318894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71500" y="5429250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Die wichtigste Lektion: </a:t>
            </a: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Datenqualität und -quantität schlagen oft Modell-Komplexität.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36996" y="2183159"/>
            <a:ext cx="505063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AA"/>
                </a:solidFill>
                <a:latin typeface="Urbanist"/>
                <a:ea typeface="Urbanist"/>
                <a:cs typeface="Urbanist"/>
                <a:sym typeface="Urbanist"/>
              </a:rPr>
              <a:t>Reduced MNIST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57250" y="2754659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10.000 Bilder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57250" y="3619500"/>
            <a:ext cx="4810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D4AA"/>
                </a:solidFill>
                <a:latin typeface="Urbanist"/>
                <a:ea typeface="Urbanist"/>
                <a:cs typeface="Urbanist"/>
                <a:sym typeface="Urbanist"/>
              </a:rPr>
              <a:t>91%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404371" y="2183159"/>
            <a:ext cx="505063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AA"/>
                </a:solidFill>
                <a:latin typeface="Urbanist"/>
                <a:ea typeface="Urbanist"/>
                <a:cs typeface="Urbanist"/>
                <a:sym typeface="Urbanist"/>
              </a:rPr>
              <a:t>Full MNIST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524625" y="2754659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60.000 Bilder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524625" y="3619500"/>
            <a:ext cx="4810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D4AA"/>
                </a:solidFill>
                <a:latin typeface="Urbanist"/>
                <a:ea typeface="Urbanist"/>
                <a:cs typeface="Urbanist"/>
                <a:sym typeface="Urbanist"/>
              </a:rPr>
              <a:t>96%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Generation o3: Daten-Boost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571500" y="2562225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AA"/>
                </a:solidFill>
                <a:latin typeface="Urbanist"/>
                <a:ea typeface="Urbanist"/>
                <a:cs typeface="Urbanist"/>
                <a:sym typeface="Urbanist"/>
              </a:rPr>
              <a:t>Training mit Strategie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3133725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Statt stumpfem Gradientenabstieg: </a:t>
            </a: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Adam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(Adaptive Moment Estimation).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71500" y="4726185"/>
            <a:ext cx="5286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Ergebnis: Sprung auf </a:t>
            </a: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98,2%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Accuracy.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914400" y="3929002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952500" y="3929955"/>
            <a:ext cx="4905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Individuelle Lernrate pro Neuron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914400" y="4222343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952500" y="4223295"/>
            <a:ext cx="4905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Momentum ("Gedächtnis") für schnellere Konvergenz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Generation o4.1: Adam-Optimizer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Generation o</a:t>
            </a:r>
            <a:r>
              <a:rPr lang="en-US" sz="3600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5: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71500" y="571500"/>
            <a:ext cx="57300" cy="5526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2427982"/>
            <a:ext cx="520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AA"/>
                </a:solidFill>
                <a:latin typeface="Urbanist"/>
                <a:ea typeface="Urbanist"/>
                <a:cs typeface="Urbanist"/>
                <a:sym typeface="Urbanist"/>
              </a:rPr>
              <a:t>Das Mega-Dataset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71500" y="3142357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Wir haben MNIST mit EMNIST 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Daten 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kombiniert.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71500" y="3854797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Insgesammt 300k Trainingsdaten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4860577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Das Ziel: Generalisierung statt Auswendiglernen.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374663" y="3304600"/>
            <a:ext cx="52053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CCCCCC"/>
                </a:solidFill>
                <a:latin typeface="Impact"/>
                <a:ea typeface="Impact"/>
                <a:cs typeface="Impact"/>
                <a:sym typeface="Impact"/>
              </a:rPr>
              <a:t>30X - Trainingsdaten</a:t>
            </a:r>
            <a:endParaRPr sz="4600">
              <a:solidFill>
                <a:srgbClr val="CCCCCC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Im Vergleich zum Anfang</a:t>
            </a:r>
            <a:endParaRPr sz="3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3992"/>
            <a:ext cx="3492549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943992"/>
            <a:ext cx="3492549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943992"/>
            <a:ext cx="3492549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2124967"/>
            <a:ext cx="320679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92674" y="2124967"/>
            <a:ext cx="320679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70974" y="2124967"/>
            <a:ext cx="320679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571500" y="5344417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Künstliche Vervielfältigung der Daten für </a:t>
            </a: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99,</a:t>
            </a:r>
            <a:r>
              <a:rPr lang="en-US" sz="1650" b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38</a:t>
            </a: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% Accuracy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34205" y="4506217"/>
            <a:ext cx="336713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AA"/>
                </a:solidFill>
                <a:latin typeface="Urbanist"/>
                <a:ea typeface="Urbanist"/>
                <a:cs typeface="Urbanist"/>
                <a:sym typeface="Urbanist"/>
              </a:rPr>
              <a:t>Rotation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4412504" y="4506217"/>
            <a:ext cx="336713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AA"/>
                </a:solidFill>
                <a:latin typeface="Urbanist"/>
                <a:ea typeface="Urbanist"/>
                <a:cs typeface="Urbanist"/>
                <a:sym typeface="Urbanist"/>
              </a:rPr>
              <a:t>Skalierung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8190804" y="4506217"/>
            <a:ext cx="336713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AA"/>
                </a:solidFill>
                <a:latin typeface="Urbanist"/>
                <a:ea typeface="Urbanist"/>
                <a:cs typeface="Urbanist"/>
                <a:sym typeface="Urbanist"/>
              </a:rPr>
              <a:t>Rauschen</a:t>
            </a:r>
            <a:endParaRPr/>
          </a:p>
        </p:txBody>
      </p:sp>
      <p:pic>
        <p:nvPicPr>
          <p:cNvPr id="204" name="Google Shape;204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3425" y="2144017"/>
            <a:ext cx="3168699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11724" y="2144017"/>
            <a:ext cx="3168699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90024" y="2144017"/>
            <a:ext cx="3168699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Generation o5.</a:t>
            </a:r>
            <a:r>
              <a:rPr lang="en-US" sz="3600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1</a:t>
            </a: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: Augmentation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571500" y="6111317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Überraschend: 37-fache Grö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ss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 bringt 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kein 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Mehrwert. </a:t>
            </a:r>
            <a:r>
              <a:rPr lang="en-US" sz="1650" b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o3-pro (10M Parameter) cs o5.2-mini (0.3M Parameter)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Unsere Modelle:</a:t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2662625"/>
              </p:ext>
            </p:extLst>
          </p:nvPr>
        </p:nvGraphicFramePr>
        <p:xfrm>
          <a:off x="2290916" y="1123950"/>
          <a:ext cx="7610167" cy="48777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GPU - Training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571500" y="571500"/>
            <a:ext cx="57300" cy="5526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6063" y="2314575"/>
            <a:ext cx="476250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6456000" y="5800725"/>
            <a:ext cx="57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Bild: Wikipedia.org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662850" y="2373050"/>
            <a:ext cx="82641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Bibliothek: Numpy -&gt; Pyopencl</a:t>
            </a:r>
            <a:endParaRPr sz="23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Umgesetzt mir GPT5.2-Codex</a:t>
            </a:r>
            <a:endParaRPr sz="23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	-&gt; Zu kompliziert für unser niveau</a:t>
            </a:r>
            <a:endParaRPr sz="23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=&gt; Trainingszeit von von Stunden auf Minuten</a:t>
            </a:r>
            <a:endParaRPr sz="23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7957"/>
            <a:ext cx="3492549" cy="3335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27957"/>
            <a:ext cx="3492549" cy="3335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27957"/>
            <a:ext cx="3492549" cy="333553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784223" y="3323332"/>
            <a:ext cx="306710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AA"/>
                </a:solidFill>
                <a:latin typeface="Urbanist"/>
                <a:ea typeface="Urbanist"/>
                <a:cs typeface="Urbanist"/>
                <a:sym typeface="Urbanist"/>
              </a:rPr>
              <a:t>Daten &gt; Architektur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857250" y="3894832"/>
            <a:ext cx="292104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Ein simples Netz mit perfekten Daten schlägt ein komplexes Netz mit schlechten Daten.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4562523" y="3323332"/>
            <a:ext cx="306710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AA"/>
                </a:solidFill>
                <a:latin typeface="Urbanist"/>
                <a:ea typeface="Urbanist"/>
                <a:cs typeface="Urbanist"/>
                <a:sym typeface="Urbanist"/>
              </a:rPr>
              <a:t>Smart Training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4635549" y="3894832"/>
            <a:ext cx="2921049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Optimizer wie Adam und Techniken wie Augmentation sind die wahren Game-Changer.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8340822" y="3323332"/>
            <a:ext cx="306710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D4AA"/>
                </a:solidFill>
                <a:latin typeface="Urbanist"/>
                <a:ea typeface="Urbanist"/>
                <a:cs typeface="Urbanist"/>
                <a:sym typeface="Urbanist"/>
              </a:rPr>
              <a:t>Messen statt raten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8413849" y="3894832"/>
            <a:ext cx="292104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Jede Änderung muss durch Metriken validiert werden. Bauchgefühl täuscht oft.</a:t>
            </a:r>
            <a:endParaRPr/>
          </a:p>
        </p:txBody>
      </p:sp>
      <p:pic>
        <p:nvPicPr>
          <p:cNvPr id="251" name="Google Shape;251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8150" y="2589907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58990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36174" y="258990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Unsere 3 Learnings</a:t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295350" y="2189452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D4AA"/>
                </a:solidFill>
                <a:latin typeface="Urbanist"/>
                <a:ea typeface="Urbanist"/>
                <a:cs typeface="Urbanist"/>
                <a:sym typeface="Urbanist"/>
              </a:rPr>
              <a:t>Fragen?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571575" y="3294352"/>
            <a:ext cx="110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Vielen Dank für eure Aufmerksamkeit!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571500" y="5456783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5381625" y="6194117"/>
            <a:ext cx="1428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TCM-Team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Breitbild</PresentationFormat>
  <Paragraphs>91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Urbanist</vt:lpstr>
      <vt:lpstr>JetBrains Mono</vt:lpstr>
      <vt:lpstr>Calibri</vt:lpstr>
      <vt:lpstr>Arial</vt:lpstr>
      <vt:lpstr>Impact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Bleuer Tim</cp:lastModifiedBy>
  <cp:revision>1</cp:revision>
  <dcterms:modified xsi:type="dcterms:W3CDTF">2026-03-09T12:24:59Z</dcterms:modified>
</cp:coreProperties>
</file>